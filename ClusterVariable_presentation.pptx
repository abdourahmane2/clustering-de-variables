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  <p:sldId id="265" r:id="rId11"/>
    <p:sldId id="266" r:id="rId12"/>
  </p:sldIdLst>
  <p:sldSz cx="9144000" cy="5143500" type="screen16x9"/>
  <p:notesSz cx="51435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6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déplacer la diapo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843B460-06CC-42D8-A147-B99D641E43FE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‹N°›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FEA649-8FA2-4D75-B0CB-5E93ABE5FF4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3C1B54-401F-4419-A243-9F9DD5E2C8A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B27D095-C451-4D40-8B7C-46F36746B1F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CC0F3D-3AD2-4AD0-8943-31DB0C5DE23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F1E11F3-8DA3-4AAD-96F2-975829FA24E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EF3D31-7548-4A11-9C9D-180E0ECD949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491D2C-E8F3-491E-9AD0-FA933E35B07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8EFA8E-8296-4E2A-BBC1-F80C3708A9E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42AACA-45DB-4C40-BECD-356C47E6B91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Text 0"/>
          <p:cNvSpPr/>
          <p:nvPr/>
        </p:nvSpPr>
        <p:spPr>
          <a:xfrm>
            <a:off x="428760" y="1517400"/>
            <a:ext cx="5085720" cy="12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970" b="1" u="none" strike="noStrike" spc="-3">
                <a:solidFill>
                  <a:srgbClr val="1A1A1A"/>
                </a:solidFill>
                <a:effectLst/>
                <a:uFillTx/>
                <a:latin typeface="Calibri"/>
              </a:rPr>
              <a:t>Clustering de </a:t>
            </a:r>
            <a:endParaRPr lang="fr-FR" sz="4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901"/>
              </a:lnSpc>
              <a:tabLst>
                <a:tab pos="0" algn="l"/>
              </a:tabLst>
            </a:pPr>
            <a:r>
              <a:rPr lang="en-US" sz="4970" b="1" u="none" strike="noStrike" spc="-3">
                <a:solidFill>
                  <a:srgbClr val="1A1A1A"/>
                </a:solidFill>
                <a:effectLst/>
                <a:uFillTx/>
                <a:latin typeface="Calibri"/>
              </a:rPr>
              <a:t>Variables</a:t>
            </a:r>
            <a:endParaRPr lang="fr-FR" sz="4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428760" y="3037680"/>
            <a:ext cx="4068360" cy="95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Package R pour le Clustering de Variables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Algorithmes et Outils d'Interprétation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5943600" y="0"/>
            <a:ext cx="3199680" cy="514296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6229440" y="1553040"/>
            <a:ext cx="2628360" cy="2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84960" anchor="t">
            <a:sp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Milena Gordien Piquet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6229440" y="1972440"/>
            <a:ext cx="2628360" cy="2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84960" anchor="t">
            <a:sp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Marvin Curty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6229440" y="2392200"/>
            <a:ext cx="2628360" cy="2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84960" anchor="t">
            <a:sp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Abdourahmane Timera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6229440" y="3240720"/>
            <a:ext cx="262836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Master 2 SISE</a:t>
            </a:r>
            <a:endParaRPr lang="fr-F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6229440" y="3415680"/>
            <a:ext cx="262836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2025-2026</a:t>
            </a:r>
            <a:endParaRPr lang="fr-F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Shape 0"/>
          <p:cNvSpPr/>
          <p:nvPr/>
        </p:nvSpPr>
        <p:spPr>
          <a:xfrm>
            <a:off x="571680" y="428760"/>
            <a:ext cx="3268440" cy="46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257040" y="609840"/>
            <a:ext cx="56520" cy="4654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2"/>
          <p:cNvSpPr/>
          <p:nvPr/>
        </p:nvSpPr>
        <p:spPr>
          <a:xfrm>
            <a:off x="415800" y="609840"/>
            <a:ext cx="3053880" cy="38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200"/>
              </a:lnSpc>
              <a:tabLst>
                <a:tab pos="0" algn="l"/>
              </a:tabLst>
            </a:pPr>
            <a:r>
              <a:rPr lang="en-US" sz="243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Un package R innovant</a:t>
            </a:r>
            <a:endParaRPr lang="fr-F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3731400" y="468360"/>
            <a:ext cx="5042880" cy="81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2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ClusterVariable</a:t>
            </a:r>
            <a:r>
              <a:rPr lang="en-US" sz="127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est un package R développé dans le cadre du Master 2 SISE qui implémente des algorithmes avancés de clustering de variables avec des outils d'interprétation complets.</a:t>
            </a:r>
            <a:endParaRPr lang="fr-F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335880" y="1479600"/>
            <a:ext cx="5014080" cy="363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200"/>
              </a:lnSpc>
            </a:pPr>
            <a:r>
              <a:rPr lang="fr-FR" sz="127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Méthodologie </a:t>
            </a:r>
            <a:endParaRPr lang="fr-F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200"/>
              </a:lnSpc>
            </a:pPr>
            <a:r>
              <a:rPr lang="fr-FR" sz="127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 </a:t>
            </a:r>
            <a:r>
              <a:rPr lang="fr-FR" sz="12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Nous avons suivi les consignes du </a:t>
            </a:r>
            <a:r>
              <a:rPr lang="fr-FR" sz="127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cahier des charges</a:t>
            </a:r>
            <a:r>
              <a:rPr lang="fr-FR" sz="12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c’est-à-dire : </a:t>
            </a:r>
            <a:endParaRPr lang="fr-F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200"/>
              </a:lnSpc>
            </a:pPr>
            <a:r>
              <a:rPr lang="fr-FR" sz="12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Un algorithme sur des </a:t>
            </a:r>
            <a:r>
              <a:rPr lang="fr-FR" sz="127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méthodes de réallocation </a:t>
            </a:r>
            <a:r>
              <a:rPr lang="fr-FR" sz="12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</a:t>
            </a:r>
            <a:r>
              <a:rPr lang="fr-FR" sz="127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K-means</a:t>
            </a:r>
            <a:r>
              <a:rPr lang="fr-FR" sz="12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 </a:t>
            </a:r>
            <a:endParaRPr lang="fr-F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200"/>
              </a:lnSpc>
            </a:pPr>
            <a:r>
              <a:rPr lang="fr-FR" sz="12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Un algorithme qui traite des </a:t>
            </a:r>
            <a:r>
              <a:rPr lang="fr-FR" sz="127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données qualitatives </a:t>
            </a:r>
            <a:r>
              <a:rPr lang="fr-FR" sz="12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</a:t>
            </a:r>
            <a:r>
              <a:rPr lang="fr-FR" sz="127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AFDM</a:t>
            </a:r>
            <a:r>
              <a:rPr lang="fr-FR" sz="12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 qui est devenu un algorithme qui </a:t>
            </a:r>
            <a:r>
              <a:rPr lang="fr-FR" sz="127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traite des variables mixtes</a:t>
            </a:r>
            <a:r>
              <a:rPr lang="fr-FR" sz="12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  </a:t>
            </a:r>
            <a:endParaRPr lang="fr-F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200"/>
              </a:lnSpc>
            </a:pPr>
            <a:r>
              <a:rPr lang="fr-FR" sz="12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Et un dernier algorithme sur le clustering de variables (choix du coeur </a:t>
            </a:r>
            <a:r>
              <a:rPr lang="fr-FR" sz="127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CAH</a:t>
            </a:r>
            <a:r>
              <a:rPr lang="en-US" sz="12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lang="fr-F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200"/>
              </a:lnSpc>
            </a:pPr>
            <a:endParaRPr lang="fr-F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200"/>
              </a:lnSpc>
            </a:pPr>
            <a:r>
              <a:rPr lang="en-US" sz="127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Repartition </a:t>
            </a:r>
            <a:endParaRPr lang="fr-F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200"/>
              </a:lnSpc>
            </a:pPr>
            <a:r>
              <a:rPr lang="fr-FR" sz="12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Chaque membre s’est concentré sur un algorithme distinct, ce qui nous a permis de développer </a:t>
            </a:r>
            <a:r>
              <a:rPr lang="fr-FR" sz="127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 méthodes R6 </a:t>
            </a:r>
            <a:r>
              <a:rPr lang="fr-FR" sz="12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dans le package, adaptées à des </a:t>
            </a:r>
            <a:r>
              <a:rPr lang="fr-FR" sz="127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types de sorties différentes.</a:t>
            </a:r>
            <a:endParaRPr lang="fr-F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200"/>
              </a:lnSpc>
            </a:pPr>
            <a:r>
              <a:rPr lang="en-US" sz="127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fr-F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200"/>
              </a:lnSpc>
              <a:tabLst>
                <a:tab pos="0" algn="l"/>
              </a:tabLst>
            </a:pPr>
            <a:endParaRPr lang="fr-FR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5543640" y="1479600"/>
            <a:ext cx="3028320" cy="1014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Shape 6"/>
          <p:cNvSpPr/>
          <p:nvPr/>
        </p:nvSpPr>
        <p:spPr>
          <a:xfrm>
            <a:off x="5543640" y="1479600"/>
            <a:ext cx="27720" cy="1014120"/>
          </a:xfrm>
          <a:prstGeom prst="rect">
            <a:avLst/>
          </a:prstGeom>
          <a:solidFill>
            <a:srgbClr val="FF4D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7"/>
          <p:cNvSpPr/>
          <p:nvPr/>
        </p:nvSpPr>
        <p:spPr>
          <a:xfrm>
            <a:off x="5757840" y="1693800"/>
            <a:ext cx="259956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01. Approches Variées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5757840" y="1959840"/>
            <a:ext cx="25995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Trois méthodes principales (CAH, K-means, AFDM) adaptées à différents types de données.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5543640" y="2588040"/>
            <a:ext cx="3028320" cy="11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Shape 10"/>
          <p:cNvSpPr/>
          <p:nvPr/>
        </p:nvSpPr>
        <p:spPr>
          <a:xfrm>
            <a:off x="5543640" y="2588040"/>
            <a:ext cx="27720" cy="117396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5757840" y="2802240"/>
            <a:ext cx="259956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02. Architecture R6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5757840" y="3068280"/>
            <a:ext cx="2599560" cy="47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Conception orientée objet moderne garantissant flexibilité, extensibilité et maintenance aisée.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5543640" y="3856320"/>
            <a:ext cx="3028320" cy="1014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Shape 14"/>
          <p:cNvSpPr/>
          <p:nvPr/>
        </p:nvSpPr>
        <p:spPr>
          <a:xfrm>
            <a:off x="5543640" y="3856320"/>
            <a:ext cx="27720" cy="101412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5757840" y="4070520"/>
            <a:ext cx="259956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03. Interface Shiny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5757840" y="4336560"/>
            <a:ext cx="25995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Application interactive intégrée pour faciliter l'utilisation par des non-programmeurs.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7"/>
          <p:cNvSpPr/>
          <p:nvPr/>
        </p:nvSpPr>
        <p:spPr>
          <a:xfrm>
            <a:off x="8743680" y="4722120"/>
            <a:ext cx="11376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02</a:t>
            </a:r>
            <a:endParaRPr lang="fr-FR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71680" y="428760"/>
            <a:ext cx="5857200" cy="4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12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Trois algorithmes complémentaires</a:t>
            </a:r>
            <a:endParaRPr lang="fr-FR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4514760" y="1291320"/>
            <a:ext cx="233280" cy="29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chemeClr val="lt2">
                    <a:lumMod val="75000"/>
                  </a:schemeClr>
                </a:solidFill>
                <a:effectLst/>
                <a:uFillTx/>
                <a:latin typeface="Calibri"/>
              </a:rPr>
              <a:t>03</a:t>
            </a:r>
            <a:endParaRPr lang="fr-FR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4505760" y="1577160"/>
            <a:ext cx="1809000" cy="37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Classification Ascendante Hiérachique (CAH)</a:t>
            </a:r>
            <a:endParaRPr lang="fr-F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4577040" y="3425760"/>
            <a:ext cx="1598760" cy="1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Text 7"/>
          <p:cNvSpPr/>
          <p:nvPr/>
        </p:nvSpPr>
        <p:spPr>
          <a:xfrm>
            <a:off x="4631760" y="2069280"/>
            <a:ext cx="4212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4D4D"/>
                </a:solidFill>
                <a:effectLst/>
                <a:uFillTx/>
                <a:latin typeface="Calibri"/>
              </a:rPr>
              <a:t>•</a:t>
            </a:r>
            <a:endParaRPr lang="fr-F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4659120" y="3967560"/>
            <a:ext cx="1501920" cy="1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Text 9"/>
          <p:cNvSpPr/>
          <p:nvPr/>
        </p:nvSpPr>
        <p:spPr>
          <a:xfrm>
            <a:off x="4637520" y="2587680"/>
            <a:ext cx="4212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4D4D"/>
                </a:solidFill>
                <a:effectLst/>
                <a:uFillTx/>
                <a:latin typeface="Calibri"/>
              </a:rPr>
              <a:t>•</a:t>
            </a:r>
            <a:endParaRPr lang="fr-F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4659120" y="4373280"/>
            <a:ext cx="1408320" cy="1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518400" y="1291320"/>
            <a:ext cx="233280" cy="29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chemeClr val="lt2">
                    <a:lumMod val="75000"/>
                  </a:schemeClr>
                </a:solidFill>
                <a:effectLst/>
                <a:uFillTx/>
                <a:latin typeface="Calibri"/>
              </a:rPr>
              <a:t>01</a:t>
            </a:r>
            <a:endParaRPr lang="fr-FR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560160" y="1589760"/>
            <a:ext cx="1809000" cy="42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9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K-means</a:t>
            </a:r>
            <a:endParaRPr lang="fr-F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(Optimisé)</a:t>
            </a:r>
            <a:endParaRPr lang="fr-F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537840" y="2099520"/>
            <a:ext cx="4212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4D4D"/>
                </a:solidFill>
                <a:effectLst/>
                <a:uFillTx/>
                <a:latin typeface="Calibri"/>
              </a:rPr>
              <a:t>•</a:t>
            </a:r>
            <a:endParaRPr lang="fr-F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643680" y="2106000"/>
            <a:ext cx="165060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Implémentation personnalisée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543240" y="2371680"/>
            <a:ext cx="4212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4D4D"/>
                </a:solidFill>
                <a:effectLst/>
                <a:uFillTx/>
                <a:latin typeface="Calibri"/>
              </a:rPr>
              <a:t>•</a:t>
            </a:r>
            <a:endParaRPr lang="fr-F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643680" y="2358000"/>
            <a:ext cx="146844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Prétraitement automatique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545040" y="2670480"/>
            <a:ext cx="4212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4D4D"/>
                </a:solidFill>
                <a:effectLst/>
                <a:uFillTx/>
                <a:latin typeface="Calibri"/>
              </a:rPr>
              <a:t>•</a:t>
            </a:r>
            <a:endParaRPr lang="fr-F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643680" y="2647440"/>
            <a:ext cx="133668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Évaluation par silhouette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2564640" y="1294920"/>
            <a:ext cx="233280" cy="29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chemeClr val="lt2">
                    <a:lumMod val="75000"/>
                  </a:schemeClr>
                </a:solidFill>
                <a:effectLst/>
                <a:uFillTx/>
                <a:latin typeface="Calibri"/>
              </a:rPr>
              <a:t>02</a:t>
            </a:r>
            <a:endParaRPr lang="fr-FR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0"/>
          <p:cNvSpPr/>
          <p:nvPr/>
        </p:nvSpPr>
        <p:spPr>
          <a:xfrm>
            <a:off x="2538000" y="1587240"/>
            <a:ext cx="1598400" cy="75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Analyse Factorielle</a:t>
            </a:r>
            <a:endParaRPr lang="fr-F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Donnée Mixtes </a:t>
            </a:r>
            <a:endParaRPr lang="fr-F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(AFDM) </a:t>
            </a:r>
            <a:endParaRPr lang="fr-F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endParaRPr lang="fr-F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3"/>
          <p:cNvSpPr/>
          <p:nvPr/>
        </p:nvSpPr>
        <p:spPr>
          <a:xfrm>
            <a:off x="4637520" y="2301840"/>
            <a:ext cx="4212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4D4D"/>
                </a:solidFill>
                <a:effectLst/>
                <a:uFillTx/>
                <a:latin typeface="Calibri"/>
              </a:rPr>
              <a:t>•</a:t>
            </a:r>
            <a:endParaRPr lang="fr-F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4"/>
          <p:cNvSpPr/>
          <p:nvPr/>
        </p:nvSpPr>
        <p:spPr>
          <a:xfrm>
            <a:off x="2594520" y="2332080"/>
            <a:ext cx="1709640" cy="1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Variables quantitatives et qualitatives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6"/>
          <p:cNvSpPr/>
          <p:nvPr/>
        </p:nvSpPr>
        <p:spPr>
          <a:xfrm>
            <a:off x="2602440" y="2569680"/>
            <a:ext cx="710280" cy="16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Intégration ACM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8"/>
          <p:cNvSpPr/>
          <p:nvPr/>
        </p:nvSpPr>
        <p:spPr>
          <a:xfrm>
            <a:off x="2602440" y="2830680"/>
            <a:ext cx="154728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Clustering sur axes factoriels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9"/>
          <p:cNvSpPr/>
          <p:nvPr/>
        </p:nvSpPr>
        <p:spPr>
          <a:xfrm>
            <a:off x="571680" y="4783680"/>
            <a:ext cx="11376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03</a:t>
            </a:r>
            <a:endParaRPr lang="fr-FR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0"/>
          <p:cNvSpPr/>
          <p:nvPr/>
        </p:nvSpPr>
        <p:spPr>
          <a:xfrm>
            <a:off x="6858000" y="0"/>
            <a:ext cx="2285280" cy="520452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Shape 31"/>
          <p:cNvSpPr/>
          <p:nvPr/>
        </p:nvSpPr>
        <p:spPr>
          <a:xfrm>
            <a:off x="6858000" y="0"/>
            <a:ext cx="27720" cy="5204520"/>
          </a:xfrm>
          <a:prstGeom prst="rect">
            <a:avLst/>
          </a:prstGeom>
          <a:solidFill>
            <a:srgbClr val="FF4D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1" name="Image 1" descr="preencoded.png"/>
          <p:cNvPicPr/>
          <p:nvPr/>
        </p:nvPicPr>
        <p:blipFill>
          <a:blip r:embed="rId3"/>
          <a:stretch/>
        </p:blipFill>
        <p:spPr>
          <a:xfrm>
            <a:off x="7143840" y="1681200"/>
            <a:ext cx="1713960" cy="142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32"/>
          <p:cNvSpPr/>
          <p:nvPr/>
        </p:nvSpPr>
        <p:spPr>
          <a:xfrm>
            <a:off x="7143840" y="3252600"/>
            <a:ext cx="1713960" cy="27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901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Visualisation conceptuelle des regroupements de variables</a:t>
            </a:r>
            <a:endParaRPr lang="fr-FR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7"/>
          <p:cNvSpPr/>
          <p:nvPr/>
        </p:nvSpPr>
        <p:spPr>
          <a:xfrm>
            <a:off x="2432520" y="2332080"/>
            <a:ext cx="4212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4D4D"/>
                </a:solidFill>
                <a:effectLst/>
                <a:uFillTx/>
                <a:latin typeface="Calibri"/>
              </a:rPr>
              <a:t>•</a:t>
            </a:r>
            <a:endParaRPr lang="fr-F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2431080" y="2580120"/>
            <a:ext cx="4212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4D4D"/>
                </a:solidFill>
                <a:effectLst/>
                <a:uFillTx/>
                <a:latin typeface="Calibri"/>
              </a:rPr>
              <a:t>•</a:t>
            </a:r>
            <a:endParaRPr lang="fr-F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2435760" y="2830680"/>
            <a:ext cx="4212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4D4D"/>
                </a:solidFill>
                <a:effectLst/>
                <a:uFillTx/>
                <a:latin typeface="Calibri"/>
              </a:rPr>
              <a:t>•</a:t>
            </a:r>
            <a:endParaRPr lang="fr-F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45"/>
          <p:cNvSpPr/>
          <p:nvPr/>
        </p:nvSpPr>
        <p:spPr>
          <a:xfrm>
            <a:off x="514800" y="1117800"/>
            <a:ext cx="1593720" cy="45000"/>
          </a:xfrm>
          <a:prstGeom prst="rect">
            <a:avLst/>
          </a:prstGeom>
          <a:solidFill>
            <a:srgbClr val="0052CC"/>
          </a:solidFill>
          <a:ln>
            <a:solidFill>
              <a:srgbClr val="005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ectangle 46"/>
          <p:cNvSpPr/>
          <p:nvPr/>
        </p:nvSpPr>
        <p:spPr>
          <a:xfrm>
            <a:off x="2478600" y="1117800"/>
            <a:ext cx="1593720" cy="45000"/>
          </a:xfrm>
          <a:prstGeom prst="rect">
            <a:avLst/>
          </a:prstGeom>
          <a:solidFill>
            <a:srgbClr val="0052CC"/>
          </a:solidFill>
          <a:ln>
            <a:solidFill>
              <a:srgbClr val="005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47"/>
          <p:cNvSpPr/>
          <p:nvPr/>
        </p:nvSpPr>
        <p:spPr>
          <a:xfrm>
            <a:off x="4501800" y="1110240"/>
            <a:ext cx="1593720" cy="45000"/>
          </a:xfrm>
          <a:prstGeom prst="rect">
            <a:avLst/>
          </a:prstGeom>
          <a:solidFill>
            <a:srgbClr val="0052CC"/>
          </a:solidFill>
          <a:ln>
            <a:solidFill>
              <a:srgbClr val="005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 26"/>
          <p:cNvSpPr/>
          <p:nvPr/>
        </p:nvSpPr>
        <p:spPr>
          <a:xfrm>
            <a:off x="4742280" y="2052720"/>
            <a:ext cx="1677600" cy="1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Traitement des données quantitatives 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6"/>
          <p:cNvSpPr/>
          <p:nvPr/>
        </p:nvSpPr>
        <p:spPr>
          <a:xfrm>
            <a:off x="4748760" y="2296080"/>
            <a:ext cx="908280" cy="1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Calculer le K optimal 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6"/>
          <p:cNvSpPr/>
          <p:nvPr/>
        </p:nvSpPr>
        <p:spPr>
          <a:xfrm>
            <a:off x="4754520" y="2580120"/>
            <a:ext cx="1438920" cy="1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ACP et visualisation des données 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6"/>
          <p:cNvSpPr/>
          <p:nvPr/>
        </p:nvSpPr>
        <p:spPr>
          <a:xfrm>
            <a:off x="4748760" y="2823480"/>
            <a:ext cx="1967760" cy="1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Evaluer le clustering avec plusieurs mértiques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9"/>
          <p:cNvSpPr/>
          <p:nvPr/>
        </p:nvSpPr>
        <p:spPr>
          <a:xfrm>
            <a:off x="4637520" y="2830680"/>
            <a:ext cx="4212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4D4D"/>
                </a:solidFill>
                <a:effectLst/>
                <a:uFillTx/>
                <a:latin typeface="Calibri"/>
              </a:rPr>
              <a:t>•</a:t>
            </a:r>
            <a:endParaRPr lang="fr-F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28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Shape 0"/>
          <p:cNvSpPr/>
          <p:nvPr/>
        </p:nvSpPr>
        <p:spPr>
          <a:xfrm>
            <a:off x="571680" y="428760"/>
            <a:ext cx="8000280" cy="56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571680" y="980640"/>
            <a:ext cx="8000280" cy="1368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 2"/>
          <p:cNvSpPr/>
          <p:nvPr/>
        </p:nvSpPr>
        <p:spPr>
          <a:xfrm>
            <a:off x="571680" y="428760"/>
            <a:ext cx="4488120" cy="4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12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K-means : Rapidité et efficacité</a:t>
            </a:r>
            <a:endParaRPr lang="fr-FR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5493960" y="662760"/>
            <a:ext cx="30776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Optimisation pour les grandes dimensions</a:t>
            </a:r>
            <a:endParaRPr lang="fr-F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571680" y="1304640"/>
            <a:ext cx="56520" cy="56520"/>
          </a:xfrm>
          <a:prstGeom prst="rect">
            <a:avLst/>
          </a:prstGeom>
          <a:solidFill>
            <a:srgbClr val="FF4D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240" rIns="90000" bIns="1224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 5"/>
          <p:cNvSpPr/>
          <p:nvPr/>
        </p:nvSpPr>
        <p:spPr>
          <a:xfrm>
            <a:off x="750240" y="1247400"/>
            <a:ext cx="313272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Implémentation dédiée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750240" y="1472400"/>
            <a:ext cx="3095640" cy="31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Algorithme optimisé spécifiquement pour le clustering de variables plutôt que d'individus.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7"/>
          <p:cNvSpPr/>
          <p:nvPr/>
        </p:nvSpPr>
        <p:spPr>
          <a:xfrm>
            <a:off x="571680" y="2026440"/>
            <a:ext cx="56520" cy="56520"/>
          </a:xfrm>
          <a:prstGeom prst="rect">
            <a:avLst/>
          </a:prstGeom>
          <a:solidFill>
            <a:srgbClr val="FF4D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240" rIns="90000" bIns="1224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 8"/>
          <p:cNvSpPr/>
          <p:nvPr/>
        </p:nvSpPr>
        <p:spPr>
          <a:xfrm>
            <a:off x="750240" y="1969560"/>
            <a:ext cx="313272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Prétraitement automatique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750240" y="2194560"/>
            <a:ext cx="3096000" cy="31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Gestion intégrée du nettoyage des données pour garantir la robustesse des résultats.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571680" y="2748240"/>
            <a:ext cx="56520" cy="56520"/>
          </a:xfrm>
          <a:prstGeom prst="rect">
            <a:avLst/>
          </a:prstGeom>
          <a:solidFill>
            <a:srgbClr val="FF4D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240" rIns="90000" bIns="1224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750240" y="2691360"/>
            <a:ext cx="313272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Sélection du modèle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750240" y="2916360"/>
            <a:ext cx="2799360" cy="31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Utilisation de la méthode du coude pour déterminer objectivement le nombre optimal de clusters (k).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571680" y="3470400"/>
            <a:ext cx="56520" cy="56520"/>
          </a:xfrm>
          <a:prstGeom prst="rect">
            <a:avLst/>
          </a:prstGeom>
          <a:solidFill>
            <a:srgbClr val="FF4D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240" rIns="90000" bIns="1224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750240" y="3413160"/>
            <a:ext cx="313272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Évaluation de la qualité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750240" y="3638160"/>
            <a:ext cx="2701080" cy="31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Calcul du coefficient de silhouette pour mesurer la cohésion intra-classe et la séparation inter-classe.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6"/>
          <p:cNvSpPr/>
          <p:nvPr/>
        </p:nvSpPr>
        <p:spPr>
          <a:xfrm>
            <a:off x="571680" y="4192200"/>
            <a:ext cx="56520" cy="56520"/>
          </a:xfrm>
          <a:prstGeom prst="rect">
            <a:avLst/>
          </a:prstGeom>
          <a:solidFill>
            <a:srgbClr val="FF4D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240" rIns="90000" bIns="1224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750240" y="4134960"/>
            <a:ext cx="313272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Performance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750240" y="4359960"/>
            <a:ext cx="3112560" cy="31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Idéal pour les jeux de données de grande dimension où la rapidité de calcul est critique.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9"/>
          <p:cNvSpPr/>
          <p:nvPr/>
        </p:nvSpPr>
        <p:spPr>
          <a:xfrm>
            <a:off x="4312080" y="1266120"/>
            <a:ext cx="4259520" cy="357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 20"/>
          <p:cNvSpPr/>
          <p:nvPr/>
        </p:nvSpPr>
        <p:spPr>
          <a:xfrm>
            <a:off x="4455000" y="4264200"/>
            <a:ext cx="2434680" cy="11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799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Figure 2 : Visualisation des clusters K-means</a:t>
            </a:r>
            <a:endParaRPr lang="fr-FR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1"/>
          <p:cNvSpPr/>
          <p:nvPr/>
        </p:nvSpPr>
        <p:spPr>
          <a:xfrm>
            <a:off x="8458200" y="4845240"/>
            <a:ext cx="11376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05</a:t>
            </a:r>
            <a:endParaRPr lang="fr-FR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26" descr="Une image contenant texte, capture d’écran, ligne, Tracé"/>
          <p:cNvPicPr/>
          <p:nvPr/>
        </p:nvPicPr>
        <p:blipFill>
          <a:blip r:embed="rId4"/>
          <a:stretch/>
        </p:blipFill>
        <p:spPr>
          <a:xfrm>
            <a:off x="4707000" y="1546560"/>
            <a:ext cx="3750480" cy="2903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 0" descr="preencoded.png"/>
          <p:cNvPicPr/>
          <p:nvPr/>
        </p:nvPicPr>
        <p:blipFill>
          <a:blip r:embed="rId2"/>
          <a:stretch/>
        </p:blipFill>
        <p:spPr>
          <a:xfrm>
            <a:off x="0" y="-16200"/>
            <a:ext cx="9143280" cy="515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ZoneTexte 3"/>
          <p:cNvSpPr/>
          <p:nvPr/>
        </p:nvSpPr>
        <p:spPr>
          <a:xfrm>
            <a:off x="585360" y="310680"/>
            <a:ext cx="4635000" cy="42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Kmeans : 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2436120" y="732960"/>
            <a:ext cx="36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endParaRPr lang="en-US" sz="8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514800" y="848520"/>
            <a:ext cx="4632120" cy="42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</a:rPr>
              <a:t>Sortie (summary et print) 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ZoneTexte 8"/>
          <p:cNvSpPr/>
          <p:nvPr/>
        </p:nvSpPr>
        <p:spPr>
          <a:xfrm>
            <a:off x="700560" y="1244520"/>
            <a:ext cx="444636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Informations générales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Nombre d’e variableset nombre de clusters 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répartition des variables dans un clusters 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indice de silhoute de chaque clusters 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ZoneTexte 10"/>
          <p:cNvSpPr/>
          <p:nvPr/>
        </p:nvSpPr>
        <p:spPr>
          <a:xfrm>
            <a:off x="692640" y="1961280"/>
            <a:ext cx="529668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fr-FR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ZoneTexte 15"/>
          <p:cNvSpPr/>
          <p:nvPr/>
        </p:nvSpPr>
        <p:spPr>
          <a:xfrm>
            <a:off x="815040" y="2068560"/>
            <a:ext cx="4060800" cy="59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Qualité &amp; Structure (summary)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Silhouette</a:t>
            </a: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= cohésion / séparation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ZoneTexte 17"/>
          <p:cNvSpPr/>
          <p:nvPr/>
        </p:nvSpPr>
        <p:spPr>
          <a:xfrm>
            <a:off x="692640" y="2730960"/>
            <a:ext cx="444636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Visualisations (plots)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Plot_heatmap</a:t>
            </a: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: pour voir la correlations des variables 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Plot_df</a:t>
            </a: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 ACP puis visualisations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Elbow</a:t>
            </a: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: justification visuelle du k optimal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19" descr="Une image contenant ligne, texte, Tracé, diagramme&#10;&#10;Le contenu généré par l’IA peut être incorrect."/>
          <p:cNvPicPr/>
          <p:nvPr/>
        </p:nvPicPr>
        <p:blipFill>
          <a:blip r:embed="rId3"/>
          <a:stretch/>
        </p:blipFill>
        <p:spPr>
          <a:xfrm>
            <a:off x="5455980" y="732600"/>
            <a:ext cx="2606040" cy="161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Image 5" descr="Une image contenant capture d’écran, carré, Rectangle, Caractère coloré&#10;&#10;Le contenu généré par l’IA peut être incorrect."/>
          <p:cNvPicPr/>
          <p:nvPr/>
        </p:nvPicPr>
        <p:blipFill>
          <a:blip r:embed="rId4"/>
          <a:stretch/>
        </p:blipFill>
        <p:spPr>
          <a:xfrm>
            <a:off x="5139000" y="2633291"/>
            <a:ext cx="3358440" cy="1767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Image 2" descr="preencoded.png"/>
          <p:cNvPicPr/>
          <p:nvPr/>
        </p:nvPicPr>
        <p:blipFill>
          <a:blip r:embed="rId3"/>
          <a:stretch/>
        </p:blipFill>
        <p:spPr>
          <a:xfrm>
            <a:off x="0" y="-16200"/>
            <a:ext cx="9143280" cy="515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Shape 11"/>
          <p:cNvSpPr/>
          <p:nvPr/>
        </p:nvSpPr>
        <p:spPr>
          <a:xfrm>
            <a:off x="571680" y="428760"/>
            <a:ext cx="8000280" cy="56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Shape 12"/>
          <p:cNvSpPr/>
          <p:nvPr/>
        </p:nvSpPr>
        <p:spPr>
          <a:xfrm>
            <a:off x="571680" y="980640"/>
            <a:ext cx="4064040" cy="450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 31"/>
          <p:cNvSpPr/>
          <p:nvPr/>
        </p:nvSpPr>
        <p:spPr>
          <a:xfrm>
            <a:off x="571680" y="428760"/>
            <a:ext cx="2686320" cy="35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12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AFDM : Approche Mixte</a:t>
            </a:r>
            <a:endParaRPr lang="fr-FR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4"/>
          <p:cNvSpPr/>
          <p:nvPr/>
        </p:nvSpPr>
        <p:spPr>
          <a:xfrm>
            <a:off x="743040" y="1337760"/>
            <a:ext cx="36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 35"/>
          <p:cNvSpPr/>
          <p:nvPr/>
        </p:nvSpPr>
        <p:spPr>
          <a:xfrm>
            <a:off x="743040" y="176796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 36"/>
          <p:cNvSpPr/>
          <p:nvPr/>
        </p:nvSpPr>
        <p:spPr>
          <a:xfrm>
            <a:off x="743040" y="2182320"/>
            <a:ext cx="36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 37"/>
          <p:cNvSpPr/>
          <p:nvPr/>
        </p:nvSpPr>
        <p:spPr>
          <a:xfrm>
            <a:off x="743040" y="244152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 38"/>
          <p:cNvSpPr/>
          <p:nvPr/>
        </p:nvSpPr>
        <p:spPr>
          <a:xfrm>
            <a:off x="1742400" y="393840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 39"/>
          <p:cNvSpPr/>
          <p:nvPr/>
        </p:nvSpPr>
        <p:spPr>
          <a:xfrm>
            <a:off x="743040" y="3027240"/>
            <a:ext cx="36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 40"/>
          <p:cNvSpPr/>
          <p:nvPr/>
        </p:nvSpPr>
        <p:spPr>
          <a:xfrm>
            <a:off x="743040" y="328608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 41"/>
          <p:cNvSpPr/>
          <p:nvPr/>
        </p:nvSpPr>
        <p:spPr>
          <a:xfrm>
            <a:off x="1720080" y="399708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 42"/>
          <p:cNvSpPr/>
          <p:nvPr/>
        </p:nvSpPr>
        <p:spPr>
          <a:xfrm>
            <a:off x="743040" y="3871800"/>
            <a:ext cx="36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 43"/>
          <p:cNvSpPr/>
          <p:nvPr/>
        </p:nvSpPr>
        <p:spPr>
          <a:xfrm>
            <a:off x="743040" y="413100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 44"/>
          <p:cNvSpPr/>
          <p:nvPr/>
        </p:nvSpPr>
        <p:spPr>
          <a:xfrm>
            <a:off x="743040" y="430236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 45"/>
          <p:cNvSpPr/>
          <p:nvPr/>
        </p:nvSpPr>
        <p:spPr>
          <a:xfrm>
            <a:off x="8743680" y="4723920"/>
            <a:ext cx="88560" cy="11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04</a:t>
            </a:r>
            <a:endParaRPr lang="fr-FR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ZoneTexte 5"/>
          <p:cNvSpPr/>
          <p:nvPr/>
        </p:nvSpPr>
        <p:spPr>
          <a:xfrm>
            <a:off x="662040" y="1247040"/>
            <a:ext cx="6009120" cy="76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Matrice de distance 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Variables qualitatives : calcul barycentre des modalités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Distance euclidienne entre les coordonnées factorielles</a:t>
            </a:r>
            <a:br>
              <a:rPr sz="1100"/>
            </a:b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ZoneTexte 7"/>
          <p:cNvSpPr/>
          <p:nvPr/>
        </p:nvSpPr>
        <p:spPr>
          <a:xfrm>
            <a:off x="662040" y="2146680"/>
            <a:ext cx="463212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Méthode de Ward.D2 (par défaut)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Fusionne les groupes en minimisant la perte d'inertie intra-classe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Construit l’arbre hiérarchique (dendrogramme)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ZoneTexte 9"/>
          <p:cNvSpPr/>
          <p:nvPr/>
        </p:nvSpPr>
        <p:spPr>
          <a:xfrm>
            <a:off x="662040" y="2893320"/>
            <a:ext cx="4632120" cy="76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Découpage de l’arbre (cutree)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Identification de k à l’aide de la méthode du coude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Découpage à la hauteur correspondant à k</a:t>
            </a:r>
            <a:br>
              <a:rPr sz="1100"/>
            </a:b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ZoneTexte 11"/>
          <p:cNvSpPr/>
          <p:nvPr/>
        </p:nvSpPr>
        <p:spPr>
          <a:xfrm>
            <a:off x="662040" y="3753720"/>
            <a:ext cx="4632120" cy="76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FF4848"/>
                </a:solidFill>
                <a:effectLst/>
                <a:uFillTx/>
                <a:latin typeface="Calibri"/>
              </a:rPr>
              <a:t>Centre des clusters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Centre = moyenne des coordonnées de ses variables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Recalculé à chaque ajout de variable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4765860" y="1107720"/>
            <a:ext cx="3928320" cy="357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4" name="Image 163"/>
          <p:cNvPicPr/>
          <p:nvPr/>
        </p:nvPicPr>
        <p:blipFill>
          <a:blip r:embed="rId4"/>
          <a:stretch/>
        </p:blipFill>
        <p:spPr>
          <a:xfrm>
            <a:off x="4983660" y="1466301"/>
            <a:ext cx="3537000" cy="2747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Image 4" descr="preencoded.png"/>
          <p:cNvPicPr/>
          <p:nvPr/>
        </p:nvPicPr>
        <p:blipFill>
          <a:blip r:embed="rId3"/>
          <a:stretch/>
        </p:blipFill>
        <p:spPr>
          <a:xfrm rot="21588000">
            <a:off x="8280" y="15480"/>
            <a:ext cx="9143280" cy="515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Shape 8"/>
          <p:cNvSpPr/>
          <p:nvPr/>
        </p:nvSpPr>
        <p:spPr>
          <a:xfrm>
            <a:off x="571680" y="428760"/>
            <a:ext cx="8000280" cy="56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Shape 15"/>
          <p:cNvSpPr/>
          <p:nvPr/>
        </p:nvSpPr>
        <p:spPr>
          <a:xfrm>
            <a:off x="571680" y="980640"/>
            <a:ext cx="4064040" cy="450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 25"/>
          <p:cNvSpPr/>
          <p:nvPr/>
        </p:nvSpPr>
        <p:spPr>
          <a:xfrm>
            <a:off x="571680" y="428760"/>
            <a:ext cx="2767680" cy="35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12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AFDM : Sorties obtenues</a:t>
            </a:r>
            <a:endParaRPr lang="fr-FR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0"/>
          <p:cNvSpPr/>
          <p:nvPr/>
        </p:nvSpPr>
        <p:spPr>
          <a:xfrm>
            <a:off x="743040" y="1337760"/>
            <a:ext cx="36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 33"/>
          <p:cNvSpPr/>
          <p:nvPr/>
        </p:nvSpPr>
        <p:spPr>
          <a:xfrm>
            <a:off x="743040" y="176796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 46"/>
          <p:cNvSpPr/>
          <p:nvPr/>
        </p:nvSpPr>
        <p:spPr>
          <a:xfrm>
            <a:off x="743040" y="2182320"/>
            <a:ext cx="36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 47"/>
          <p:cNvSpPr/>
          <p:nvPr/>
        </p:nvSpPr>
        <p:spPr>
          <a:xfrm>
            <a:off x="743040" y="244152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 48"/>
          <p:cNvSpPr/>
          <p:nvPr/>
        </p:nvSpPr>
        <p:spPr>
          <a:xfrm>
            <a:off x="1742400" y="393840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 49"/>
          <p:cNvSpPr/>
          <p:nvPr/>
        </p:nvSpPr>
        <p:spPr>
          <a:xfrm>
            <a:off x="743040" y="3027240"/>
            <a:ext cx="36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 50"/>
          <p:cNvSpPr/>
          <p:nvPr/>
        </p:nvSpPr>
        <p:spPr>
          <a:xfrm>
            <a:off x="743040" y="328608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 51"/>
          <p:cNvSpPr/>
          <p:nvPr/>
        </p:nvSpPr>
        <p:spPr>
          <a:xfrm>
            <a:off x="1720080" y="399708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 52"/>
          <p:cNvSpPr/>
          <p:nvPr/>
        </p:nvSpPr>
        <p:spPr>
          <a:xfrm>
            <a:off x="743040" y="3871800"/>
            <a:ext cx="36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 53"/>
          <p:cNvSpPr/>
          <p:nvPr/>
        </p:nvSpPr>
        <p:spPr>
          <a:xfrm>
            <a:off x="743040" y="413100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 54"/>
          <p:cNvSpPr/>
          <p:nvPr/>
        </p:nvSpPr>
        <p:spPr>
          <a:xfrm>
            <a:off x="743040" y="430236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ZoneTexte 1"/>
          <p:cNvSpPr/>
          <p:nvPr/>
        </p:nvSpPr>
        <p:spPr>
          <a:xfrm>
            <a:off x="662040" y="1247040"/>
            <a:ext cx="6009120" cy="12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print()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Dimensions : Nind * Nvar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Infos données : types, décompte par type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FAMD : nombre composante + inertie expliquée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Clustering : nombre + distribution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Objets calculés : result, coord_var, eigenvalues, inertia_explained...</a:t>
            </a:r>
            <a:br>
              <a:rPr sz="1100"/>
            </a:b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ZoneTexte 2"/>
          <p:cNvSpPr/>
          <p:nvPr/>
        </p:nvSpPr>
        <p:spPr>
          <a:xfrm>
            <a:off x="720000" y="2274120"/>
            <a:ext cx="4632120" cy="4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ZoneTexte 4"/>
          <p:cNvSpPr/>
          <p:nvPr/>
        </p:nvSpPr>
        <p:spPr>
          <a:xfrm>
            <a:off x="720000" y="2671560"/>
            <a:ext cx="4632120" cy="9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summary()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Composition des clusters 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Distinction entre type de variables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Intérêt pour l’interprétabilité des résultats</a:t>
            </a:r>
            <a:br>
              <a:rPr sz="1100"/>
            </a:b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ZoneTexte 12"/>
          <p:cNvSpPr/>
          <p:nvPr/>
        </p:nvSpPr>
        <p:spPr>
          <a:xfrm>
            <a:off x="662040" y="3753720"/>
            <a:ext cx="4632120" cy="10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FF4848"/>
                </a:solidFill>
                <a:effectLst/>
                <a:uFillTx/>
                <a:latin typeface="Calibri"/>
              </a:rPr>
              <a:t>Visualisations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Screeplot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Dendrogramme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Variables dans le plan factoriel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Silhouette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7"/>
          <p:cNvSpPr/>
          <p:nvPr/>
        </p:nvSpPr>
        <p:spPr>
          <a:xfrm>
            <a:off x="4891680" y="1108800"/>
            <a:ext cx="3928320" cy="357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5" name="Image 184"/>
          <p:cNvPicPr/>
          <p:nvPr/>
        </p:nvPicPr>
        <p:blipFill>
          <a:blip r:embed="rId4"/>
          <a:stretch/>
        </p:blipFill>
        <p:spPr>
          <a:xfrm>
            <a:off x="4891680" y="3307320"/>
            <a:ext cx="1841760" cy="101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Image 185"/>
          <p:cNvPicPr/>
          <p:nvPr/>
        </p:nvPicPr>
        <p:blipFill>
          <a:blip r:embed="rId5"/>
          <a:stretch/>
        </p:blipFill>
        <p:spPr>
          <a:xfrm>
            <a:off x="5220000" y="1247040"/>
            <a:ext cx="309780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Image 186"/>
          <p:cNvPicPr/>
          <p:nvPr/>
        </p:nvPicPr>
        <p:blipFill>
          <a:blip r:embed="rId6"/>
          <a:stretch/>
        </p:blipFill>
        <p:spPr>
          <a:xfrm>
            <a:off x="6870600" y="3240000"/>
            <a:ext cx="1853640" cy="1080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age 0" descr="preencoded.png"/>
          <p:cNvPicPr/>
          <p:nvPr/>
        </p:nvPicPr>
        <p:blipFill>
          <a:blip r:embed="rId3"/>
          <a:stretch/>
        </p:blipFill>
        <p:spPr>
          <a:xfrm>
            <a:off x="0" y="-16200"/>
            <a:ext cx="9143280" cy="515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Shape 0"/>
          <p:cNvSpPr/>
          <p:nvPr/>
        </p:nvSpPr>
        <p:spPr>
          <a:xfrm>
            <a:off x="571680" y="428760"/>
            <a:ext cx="8000280" cy="56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571680" y="980640"/>
            <a:ext cx="4064040" cy="450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571680" y="428760"/>
            <a:ext cx="4189680" cy="4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12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CAH : Approche Hiérarchique</a:t>
            </a:r>
            <a:endParaRPr lang="fr-FR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2436120" y="770040"/>
            <a:ext cx="289656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Classification Ascendante Hiérarchique</a:t>
            </a:r>
            <a:endParaRPr lang="fr-F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743040" y="1337760"/>
            <a:ext cx="36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endParaRPr lang="en-US" sz="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743040" y="176796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743040" y="2182320"/>
            <a:ext cx="36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endParaRPr lang="en-US" sz="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743040" y="244152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 9"/>
          <p:cNvSpPr/>
          <p:nvPr/>
        </p:nvSpPr>
        <p:spPr>
          <a:xfrm>
            <a:off x="1742400" y="393840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743040" y="3027240"/>
            <a:ext cx="36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endParaRPr lang="en-US" sz="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743040" y="328608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 12"/>
          <p:cNvSpPr/>
          <p:nvPr/>
        </p:nvSpPr>
        <p:spPr>
          <a:xfrm>
            <a:off x="1720080" y="399708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 13"/>
          <p:cNvSpPr/>
          <p:nvPr/>
        </p:nvSpPr>
        <p:spPr>
          <a:xfrm>
            <a:off x="743040" y="3871800"/>
            <a:ext cx="36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endParaRPr lang="en-US" sz="98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743040" y="413100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 15"/>
          <p:cNvSpPr/>
          <p:nvPr/>
        </p:nvSpPr>
        <p:spPr>
          <a:xfrm>
            <a:off x="743040" y="4302360"/>
            <a:ext cx="360" cy="16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endParaRPr lang="en-US" sz="8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 18"/>
          <p:cNvSpPr/>
          <p:nvPr/>
        </p:nvSpPr>
        <p:spPr>
          <a:xfrm>
            <a:off x="8743680" y="4723920"/>
            <a:ext cx="11376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04</a:t>
            </a:r>
            <a:endParaRPr lang="fr-FR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23" descr="Une image contenant texte, document, capture d’écran, Police&#10;&#10;Le contenu généré par l’IA peut être incorrect."/>
          <p:cNvPicPr/>
          <p:nvPr/>
        </p:nvPicPr>
        <p:blipFill>
          <a:blip r:embed="rId4"/>
          <a:stretch/>
        </p:blipFill>
        <p:spPr>
          <a:xfrm>
            <a:off x="4897440" y="300600"/>
            <a:ext cx="4064040" cy="460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ZoneTexte 25"/>
          <p:cNvSpPr/>
          <p:nvPr/>
        </p:nvSpPr>
        <p:spPr>
          <a:xfrm>
            <a:off x="662040" y="1247040"/>
            <a:ext cx="600912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Distance corrélative 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Basée sur la matrice de corrélation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Dissimilarité </a:t>
            </a:r>
            <a:br>
              <a:rPr sz="1100"/>
            </a:br>
            <a:r>
              <a:rPr lang="fr-FR" sz="11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(Deux variables fortement liées → distance faible)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ZoneTexte 27"/>
          <p:cNvSpPr/>
          <p:nvPr/>
        </p:nvSpPr>
        <p:spPr>
          <a:xfrm>
            <a:off x="662040" y="2146680"/>
            <a:ext cx="4632120" cy="59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Méthode de Ward.D2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Fusionne les groupes en minimisant la perte d'inertie intra-classe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Construit l’arbre hiérarchique (dendrogramme)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ZoneTexte 29"/>
          <p:cNvSpPr/>
          <p:nvPr/>
        </p:nvSpPr>
        <p:spPr>
          <a:xfrm>
            <a:off x="662040" y="2893320"/>
            <a:ext cx="463212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Détection automatique de k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Analyse des ruptures dans les hauteurs de fusion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Choix du nombre optimal de clusters</a:t>
            </a:r>
            <a:br>
              <a:rPr sz="1100"/>
            </a:br>
            <a:r>
              <a:rPr lang="fr-FR" sz="11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(logique du “plus grand saut”)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ZoneTexte 31"/>
          <p:cNvSpPr/>
          <p:nvPr/>
        </p:nvSpPr>
        <p:spPr>
          <a:xfrm>
            <a:off x="662040" y="3753720"/>
            <a:ext cx="463212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FF4848"/>
                </a:solidFill>
                <a:effectLst/>
                <a:uFillTx/>
                <a:latin typeface="Calibri"/>
              </a:rPr>
              <a:t>Construction des composantes latentes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ACP locale dans chaque groupe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Première composante = </a:t>
            </a:r>
            <a:r>
              <a:rPr lang="fr-FR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Zk</a:t>
            </a: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la synthèse du cluster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Sert ensuite pour l’interprétation et le predict()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Image 0" descr="preencoded.png"/>
          <p:cNvPicPr/>
          <p:nvPr/>
        </p:nvPicPr>
        <p:blipFill>
          <a:blip r:embed="rId2"/>
          <a:stretch/>
        </p:blipFill>
        <p:spPr>
          <a:xfrm>
            <a:off x="0" y="-16200"/>
            <a:ext cx="9143280" cy="515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ZoneTexte 3"/>
          <p:cNvSpPr/>
          <p:nvPr/>
        </p:nvSpPr>
        <p:spPr>
          <a:xfrm>
            <a:off x="585360" y="310680"/>
            <a:ext cx="4635000" cy="42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CAH : Approche Hiérarchique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2436120" y="732960"/>
            <a:ext cx="289656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Classification Ascendante Hiérarchique</a:t>
            </a:r>
            <a:endParaRPr lang="fr-F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ZoneTexte 6"/>
          <p:cNvSpPr/>
          <p:nvPr/>
        </p:nvSpPr>
        <p:spPr>
          <a:xfrm>
            <a:off x="514800" y="848520"/>
            <a:ext cx="4632120" cy="42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2">
                    <a:lumMod val="50000"/>
                  </a:schemeClr>
                </a:solidFill>
                <a:effectLst/>
                <a:uFillTx/>
                <a:latin typeface="Calibri"/>
              </a:rPr>
              <a:t>Sortie (summary et print) 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ZoneTexte 8"/>
          <p:cNvSpPr/>
          <p:nvPr/>
        </p:nvSpPr>
        <p:spPr>
          <a:xfrm>
            <a:off x="700559" y="1244520"/>
            <a:ext cx="4632119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 dirty="0">
                <a:solidFill>
                  <a:srgbClr val="0052CC"/>
                </a:solidFill>
                <a:effectLst/>
                <a:uFillTx/>
                <a:latin typeface="Calibri"/>
              </a:rPr>
              <a:t>Informations générales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Nombre d’individus × variables utilisées, méthode de fusion (Ward.D2), distance utilisée : </a:t>
            </a:r>
            <a:r>
              <a:rPr lang="fr-FR" sz="1100" b="0" i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1 − |</a:t>
            </a:r>
            <a:r>
              <a:rPr lang="fr-FR" sz="1100" b="0" i="1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corr</a:t>
            </a:r>
            <a:r>
              <a:rPr lang="fr-FR" sz="1100" b="0" i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|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k optimal détecté et résumé des clusters (nom variable + nb de clusters)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ZoneTexte 10"/>
          <p:cNvSpPr/>
          <p:nvPr/>
        </p:nvSpPr>
        <p:spPr>
          <a:xfrm>
            <a:off x="692640" y="1961280"/>
            <a:ext cx="5296680" cy="110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BSS Ratio + GAP + Barycentres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BSS Ratio = part d’inertie inter-cluster / inertie totale</a:t>
            </a:r>
            <a:br>
              <a:rPr sz="1100"/>
            </a:b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→ </a:t>
            </a:r>
            <a:r>
              <a:rPr lang="fr-FR" sz="11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Plus c’est grand, plus les clusters sont bien séparés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Centroides (moyennes) des variables de chaque cluster</a:t>
            </a:r>
            <a:br>
              <a:rPr sz="1100"/>
            </a:b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→ </a:t>
            </a:r>
            <a:r>
              <a:rPr lang="fr-FR" sz="11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Donne une idée du “profil moyen” du groupe.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ZoneTexte 15"/>
          <p:cNvSpPr/>
          <p:nvPr/>
        </p:nvSpPr>
        <p:spPr>
          <a:xfrm>
            <a:off x="700560" y="2876760"/>
            <a:ext cx="4632120" cy="93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Qualité &amp; Structure (summary)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R² global </a:t>
            </a: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 % d’information capturée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Silhouette</a:t>
            </a: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= cohésion / séparation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η² par variable </a:t>
            </a: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= pertinence dans le groupe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Variables par cluster + variable représentative (</a:t>
            </a:r>
            <a:r>
              <a:rPr lang="fr-FR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parangon</a:t>
            </a:r>
            <a:r>
              <a:rPr lang="fr-F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ZoneTexte 17"/>
          <p:cNvSpPr/>
          <p:nvPr/>
        </p:nvSpPr>
        <p:spPr>
          <a:xfrm>
            <a:off x="700560" y="3786120"/>
            <a:ext cx="4632120" cy="110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100" b="1" u="none" strike="noStrike" dirty="0">
                <a:solidFill>
                  <a:srgbClr val="FF4747"/>
                </a:solidFill>
                <a:effectLst/>
                <a:uFillTx/>
                <a:latin typeface="Calibri"/>
              </a:rPr>
              <a:t>Visualisations (plots)</a:t>
            </a:r>
            <a:endParaRPr lang="fr-FR" sz="1100" b="0" u="none" strike="noStrike" dirty="0">
              <a:solidFill>
                <a:srgbClr val="FF4747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Dendrogramme</a:t>
            </a:r>
            <a:r>
              <a:rPr lang="fr-FR" sz="11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: structure hiérarchique, saut → choix de k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ACP</a:t>
            </a:r>
            <a:r>
              <a:rPr lang="fr-FR" sz="11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: cohérence géométrique des groupes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MDS</a:t>
            </a:r>
            <a:r>
              <a:rPr lang="fr-FR" sz="11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: projection selon distances corrélationnelles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Silhouette</a:t>
            </a:r>
            <a:r>
              <a:rPr lang="fr-FR" sz="11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: qualité variable par variable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100" b="1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Elbow</a:t>
            </a:r>
            <a:r>
              <a:rPr lang="fr-FR" sz="11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: justification visuelle du k optimal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19" descr="Une image contenant ligne, texte, Tracé, diagramme&#10;&#10;Le contenu généré par l’IA peut être incorrect."/>
          <p:cNvPicPr/>
          <p:nvPr/>
        </p:nvPicPr>
        <p:blipFill>
          <a:blip r:embed="rId3"/>
          <a:stretch/>
        </p:blipFill>
        <p:spPr>
          <a:xfrm>
            <a:off x="5973840" y="79560"/>
            <a:ext cx="2606040" cy="96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Image 21" descr="Une image contenant ligne, diagramme, Tracé, Parallèle&#10;&#10;Le contenu généré par l’IA peut être incorrect."/>
          <p:cNvPicPr/>
          <p:nvPr/>
        </p:nvPicPr>
        <p:blipFill>
          <a:blip r:embed="rId4"/>
          <a:stretch/>
        </p:blipFill>
        <p:spPr>
          <a:xfrm>
            <a:off x="6022440" y="1139400"/>
            <a:ext cx="2606040" cy="92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Image 23" descr="Une image contenant texte, capture d’écran, diagramme, ligne&#10;&#10;Le contenu généré par l’IA peut être incorrect."/>
          <p:cNvPicPr/>
          <p:nvPr/>
        </p:nvPicPr>
        <p:blipFill>
          <a:blip r:embed="rId5"/>
          <a:stretch/>
        </p:blipFill>
        <p:spPr>
          <a:xfrm>
            <a:off x="7277400" y="2164320"/>
            <a:ext cx="1623240" cy="133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Image 25" descr="Une image contenant texte, capture d’écran, diagramme, ligne&#10;&#10;Le contenu généré par l’IA peut être incorrect."/>
          <p:cNvPicPr/>
          <p:nvPr/>
        </p:nvPicPr>
        <p:blipFill>
          <a:blip r:embed="rId6"/>
          <a:stretch/>
        </p:blipFill>
        <p:spPr>
          <a:xfrm>
            <a:off x="5580720" y="2191680"/>
            <a:ext cx="1587600" cy="129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Image 27" descr="Une image contenant diagramme, capture d’écran, ligne, Tracé&#10;&#10;Le contenu généré par l’IA peut être incorrect."/>
          <p:cNvPicPr/>
          <p:nvPr/>
        </p:nvPicPr>
        <p:blipFill>
          <a:blip r:embed="rId7"/>
          <a:stretch/>
        </p:blipFill>
        <p:spPr>
          <a:xfrm>
            <a:off x="5817960" y="3594240"/>
            <a:ext cx="2918520" cy="1436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0"/>
          <p:cNvSpPr/>
          <p:nvPr/>
        </p:nvSpPr>
        <p:spPr>
          <a:xfrm>
            <a:off x="571680" y="583920"/>
            <a:ext cx="3382200" cy="4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12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Application Shiny</a:t>
            </a:r>
            <a:endParaRPr lang="fr-FR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571680" y="1064520"/>
            <a:ext cx="338220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Interface interactive pour l'analyse sans programmation</a:t>
            </a:r>
            <a:endParaRPr lang="fr-FR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6834600" y="428760"/>
            <a:ext cx="1737000" cy="48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55240" tIns="169920" rIns="255240" bIns="16992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endParaRPr lang="en-US" sz="93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Shape 5"/>
          <p:cNvSpPr/>
          <p:nvPr/>
        </p:nvSpPr>
        <p:spPr>
          <a:xfrm>
            <a:off x="571680" y="1668240"/>
            <a:ext cx="8000280" cy="30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571680" y="1668240"/>
            <a:ext cx="8000280" cy="1368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571680" y="1596600"/>
            <a:ext cx="535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3600"/>
              </a:lnSpc>
              <a:tabLst>
                <a:tab pos="0" algn="l"/>
              </a:tabLst>
            </a:pPr>
            <a:r>
              <a:rPr lang="en-US" sz="3290" b="1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01</a:t>
            </a:r>
            <a:endParaRPr lang="fr-FR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8"/>
          <p:cNvSpPr/>
          <p:nvPr/>
        </p:nvSpPr>
        <p:spPr>
          <a:xfrm>
            <a:off x="571680" y="2096640"/>
            <a:ext cx="148536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8496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Import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571680" y="2484360"/>
            <a:ext cx="1485360" cy="64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Support des fichiers CSV et Excel avec sélection interactive des colonnes à analyser.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2200320" y="1596600"/>
            <a:ext cx="535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3600"/>
              </a:lnSpc>
              <a:tabLst>
                <a:tab pos="0" algn="l"/>
              </a:tabLst>
            </a:pPr>
            <a:r>
              <a:rPr lang="en-US" sz="3290" b="1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02</a:t>
            </a:r>
            <a:endParaRPr lang="fr-FR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1"/>
          <p:cNvSpPr/>
          <p:nvPr/>
        </p:nvSpPr>
        <p:spPr>
          <a:xfrm>
            <a:off x="2200320" y="2096640"/>
            <a:ext cx="148536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8496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Nettoyage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2"/>
          <p:cNvSpPr/>
          <p:nvPr/>
        </p:nvSpPr>
        <p:spPr>
          <a:xfrm>
            <a:off x="2200320" y="2484360"/>
            <a:ext cx="1485360" cy="64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Détection et imputation automatique des valeurs manquantes pour préparer les données.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3828960" y="1596600"/>
            <a:ext cx="535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3600"/>
              </a:lnSpc>
              <a:tabLst>
                <a:tab pos="0" algn="l"/>
              </a:tabLst>
            </a:pPr>
            <a:r>
              <a:rPr lang="en-US" sz="3290" b="1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03</a:t>
            </a:r>
            <a:endParaRPr lang="fr-FR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3828960" y="2096640"/>
            <a:ext cx="148536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8496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Clustering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3828960" y="2484360"/>
            <a:ext cx="1485360" cy="64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Configuration des algorithmes (K-means, CAH, AFDM) et ajustement des hyperparamètres.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6"/>
          <p:cNvSpPr/>
          <p:nvPr/>
        </p:nvSpPr>
        <p:spPr>
          <a:xfrm>
            <a:off x="5457960" y="1596600"/>
            <a:ext cx="535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3600"/>
              </a:lnSpc>
              <a:tabLst>
                <a:tab pos="0" algn="l"/>
              </a:tabLst>
            </a:pPr>
            <a:r>
              <a:rPr lang="en-US" sz="3290" b="1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04</a:t>
            </a:r>
            <a:endParaRPr lang="fr-FR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5457960" y="2096640"/>
            <a:ext cx="148536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8496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Visualisation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5457960" y="2484360"/>
            <a:ext cx="1485360" cy="64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Génération de graphiques interactifs, dendrogrammes et tableaux de résultats exportables.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9"/>
          <p:cNvSpPr/>
          <p:nvPr/>
        </p:nvSpPr>
        <p:spPr>
          <a:xfrm>
            <a:off x="7086600" y="1596600"/>
            <a:ext cx="535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3600"/>
              </a:lnSpc>
              <a:tabLst>
                <a:tab pos="0" algn="l"/>
              </a:tabLst>
            </a:pPr>
            <a:r>
              <a:rPr lang="en-US" sz="3290" b="1" u="none" strike="noStrike">
                <a:solidFill>
                  <a:srgbClr val="E0E0E0"/>
                </a:solidFill>
                <a:effectLst/>
                <a:uFillTx/>
                <a:latin typeface="Calibri"/>
              </a:rPr>
              <a:t>05</a:t>
            </a:r>
            <a:endParaRPr lang="fr-FR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0"/>
          <p:cNvSpPr/>
          <p:nvPr/>
        </p:nvSpPr>
        <p:spPr>
          <a:xfrm>
            <a:off x="7086600" y="2096640"/>
            <a:ext cx="148536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8496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Prédiction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1"/>
          <p:cNvSpPr/>
          <p:nvPr/>
        </p:nvSpPr>
        <p:spPr>
          <a:xfrm>
            <a:off x="7086600" y="2484360"/>
            <a:ext cx="1485360" cy="64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Assignation de nouvelles variables illustratives aux clusters identifiés par le modèle.</a:t>
            </a:r>
            <a:endParaRPr lang="fr-FR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2"/>
          <p:cNvSpPr/>
          <p:nvPr/>
        </p:nvSpPr>
        <p:spPr>
          <a:xfrm>
            <a:off x="8743680" y="4722120"/>
            <a:ext cx="11376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10</a:t>
            </a:r>
            <a:endParaRPr lang="fr-FR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571680" y="428760"/>
            <a:ext cx="8000280" cy="56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Shape 1"/>
          <p:cNvSpPr/>
          <p:nvPr/>
        </p:nvSpPr>
        <p:spPr>
          <a:xfrm>
            <a:off x="571680" y="980640"/>
            <a:ext cx="8000280" cy="1368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571680" y="428760"/>
            <a:ext cx="8000280" cy="4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12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Perspectives et développements futurs</a:t>
            </a:r>
            <a:endParaRPr lang="fr-FR" sz="2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"/>
          <p:cNvSpPr/>
          <p:nvPr/>
        </p:nvSpPr>
        <p:spPr>
          <a:xfrm>
            <a:off x="571680" y="1337760"/>
            <a:ext cx="285120" cy="23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01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"/>
          <p:cNvSpPr/>
          <p:nvPr/>
        </p:nvSpPr>
        <p:spPr>
          <a:xfrm>
            <a:off x="1000080" y="1337760"/>
            <a:ext cx="215064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Approfondir l’interpétation des résultats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1000080" y="1568160"/>
            <a:ext cx="2437560" cy="1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Améliorer l’interpretation attendu dans chaque clusters.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6"/>
          <p:cNvSpPr/>
          <p:nvPr/>
        </p:nvSpPr>
        <p:spPr>
          <a:xfrm>
            <a:off x="571680" y="1942200"/>
            <a:ext cx="285120" cy="23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02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7"/>
          <p:cNvSpPr/>
          <p:nvPr/>
        </p:nvSpPr>
        <p:spPr>
          <a:xfrm>
            <a:off x="1000080" y="1942200"/>
            <a:ext cx="247104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Renforcer la coordination entre les algorithmes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8"/>
          <p:cNvSpPr/>
          <p:nvPr/>
        </p:nvSpPr>
        <p:spPr>
          <a:xfrm>
            <a:off x="1000080" y="2172600"/>
            <a:ext cx="4114080" cy="1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Harmoniser les différentes sorties et architecture du projet.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9"/>
          <p:cNvSpPr/>
          <p:nvPr/>
        </p:nvSpPr>
        <p:spPr>
          <a:xfrm>
            <a:off x="571680" y="2707200"/>
            <a:ext cx="285120" cy="23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03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0"/>
          <p:cNvSpPr/>
          <p:nvPr/>
        </p:nvSpPr>
        <p:spPr>
          <a:xfrm>
            <a:off x="1000080" y="2707200"/>
            <a:ext cx="186192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Amélioration de l’application Shiny 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1"/>
          <p:cNvSpPr/>
          <p:nvPr/>
        </p:nvSpPr>
        <p:spPr>
          <a:xfrm>
            <a:off x="1000080" y="2937600"/>
            <a:ext cx="1344240" cy="1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Visualisations plus intéractives.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2"/>
          <p:cNvSpPr/>
          <p:nvPr/>
        </p:nvSpPr>
        <p:spPr>
          <a:xfrm>
            <a:off x="571680" y="3311640"/>
            <a:ext cx="285120" cy="23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04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3"/>
          <p:cNvSpPr/>
          <p:nvPr/>
        </p:nvSpPr>
        <p:spPr>
          <a:xfrm>
            <a:off x="1000080" y="3311640"/>
            <a:ext cx="404208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Optimisation Big Data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4"/>
          <p:cNvSpPr/>
          <p:nvPr/>
        </p:nvSpPr>
        <p:spPr>
          <a:xfrm>
            <a:off x="1000080" y="3542040"/>
            <a:ext cx="404208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Amélioration des performances de calcul pour les très grandes dimensions.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5"/>
          <p:cNvSpPr/>
          <p:nvPr/>
        </p:nvSpPr>
        <p:spPr>
          <a:xfrm>
            <a:off x="571680" y="3916440"/>
            <a:ext cx="285120" cy="23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52CC"/>
                </a:solidFill>
                <a:effectLst/>
                <a:uFillTx/>
                <a:latin typeface="Calibri"/>
              </a:rPr>
              <a:t>05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6"/>
          <p:cNvSpPr/>
          <p:nvPr/>
        </p:nvSpPr>
        <p:spPr>
          <a:xfrm>
            <a:off x="1000080" y="3916440"/>
            <a:ext cx="2916720" cy="16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Développer d’advantage la documentation et les testes 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7"/>
          <p:cNvSpPr/>
          <p:nvPr/>
        </p:nvSpPr>
        <p:spPr>
          <a:xfrm>
            <a:off x="1000080" y="4146840"/>
            <a:ext cx="568440" cy="15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Via vignette..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1"/>
          <p:cNvSpPr/>
          <p:nvPr/>
        </p:nvSpPr>
        <p:spPr>
          <a:xfrm>
            <a:off x="5757840" y="3766680"/>
            <a:ext cx="259956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Open Source &amp; Communauté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2"/>
          <p:cNvSpPr/>
          <p:nvPr/>
        </p:nvSpPr>
        <p:spPr>
          <a:xfrm>
            <a:off x="5757840" y="4032720"/>
            <a:ext cx="259956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FFFFFF">
                    <a:alpha val="90000"/>
                  </a:srgbClr>
                </a:solidFill>
                <a:effectLst/>
                <a:uFillTx/>
                <a:latin typeface="Calibri"/>
              </a:rPr>
              <a:t>Le projet est disponible sur GitHub. Les contributions, signalements de bugs et suggestions d'amélioration sont les bienvenus pour enrichir l'écosystème R.</a:t>
            </a:r>
            <a:endParaRPr lang="fr-FR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3"/>
          <p:cNvSpPr/>
          <p:nvPr/>
        </p:nvSpPr>
        <p:spPr>
          <a:xfrm>
            <a:off x="8743680" y="4939920"/>
            <a:ext cx="11376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12</a:t>
            </a:r>
            <a:endParaRPr lang="fr-FR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816</TotalTime>
  <Words>1117</Words>
  <Application>Microsoft Office PowerPoint</Application>
  <PresentationFormat>Affichage à l'écran (16:9)</PresentationFormat>
  <Paragraphs>199</Paragraphs>
  <Slides>11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Calibri</vt:lpstr>
      <vt:lpstr>Symbol</vt:lpstr>
      <vt:lpstr>Times New Roman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Milena Gordien--Piquet</cp:lastModifiedBy>
  <cp:revision>13</cp:revision>
  <dcterms:created xsi:type="dcterms:W3CDTF">2025-12-08T17:07:27Z</dcterms:created>
  <dcterms:modified xsi:type="dcterms:W3CDTF">2025-12-11T10:39:05Z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Affichage à l'écran (16:9)</vt:lpwstr>
  </property>
  <property fmtid="{D5CDD505-2E9C-101B-9397-08002B2CF9AE}" pid="4" name="Slides">
    <vt:i4>12</vt:i4>
  </property>
</Properties>
</file>